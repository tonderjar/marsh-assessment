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486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1548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FP&amp;A Financial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DD7EE"/>
                </a:solidFill>
                <a:latin typeface="Calibri"/>
              </a:rPr>
              <a:t>Latin America Region  |  Full-Year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  <a:latin typeface="Calibri"/>
              </a:rPr>
              <a:t>Executive Steering Committee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Full-year 2024 financial performance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2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96012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$2.12B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Total Revenue (USD)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96012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315K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Total 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60120"/>
            <a:ext cx="2743200" cy="18288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96012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26,472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Unique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960120"/>
            <a:ext cx="2743200" cy="18288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960120"/>
            <a:ext cx="274320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94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Countries 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1164031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0906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F6E"/>
                </a:solidFill>
                <a:latin typeface="Calibri"/>
              </a:rPr>
              <a:t>KEY HIGHLIGHTS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Calibri"/>
              </a:rPr>
              <a:t>▸  Revenue concentration: top 10% of clients (2,647 accounts) generate 48.1% of total revenue — high dependency on key accounts.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050791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Calibri"/>
              </a:rPr>
              <a:t>▸  Geographic breadth spans 136 countries across 137 currencies, yet top 3 countries alone account for 3% of global revenue.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72584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  <a:latin typeface="Calibri"/>
              </a:rPr>
              <a:t>▸  Latin America contributes 17.5% of global revenue (20,962 clients across 23 countries).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9437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71C1C"/>
                </a:solidFill>
                <a:latin typeface="Calibri"/>
              </a:rPr>
              <a:t>▸  COMPLIANCE ALERT: 1,355 clients flagged for Q4 2024 exposure to restricted jurisdictions — immediate review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Market Section Analysis — Revenue by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Q1: Starting digit of each client code = Market Section. Are there differences in expected revenue by section?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3 /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863840" cy="4663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21040" y="100584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94192" y="1005840"/>
            <a:ext cx="358444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069848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YES — sections differ significantly. Section "A" leads with $0.38B total (18.0% of global revenue).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9659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94192" y="1965960"/>
            <a:ext cx="358444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029968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Revenue per client varies 15.9× between highest and lowest productivity sections — raw volume understates section quality.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92608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94192" y="2926080"/>
            <a:ext cx="358444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990088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Section "2" earns $0.2M per client on average vs. $0.0M for section "3".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64224"/>
            <a:ext cx="11640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* 22 total market sections identified across 26,472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Geographic Revenue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Q2: Is revenue affected by geography? — Yes, strongly. A handful of countries dominate global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4 /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138160" cy="4937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03920" y="1005840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77072" y="1005840"/>
            <a:ext cx="3401568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069848"/>
            <a:ext cx="318211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YES — geography drives revenue. Top 3 countries account for 3% of global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77072" y="1828800"/>
            <a:ext cx="3401568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892808"/>
            <a:ext cx="3182112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Top 10 countries represent 9% of revenue out of 136 total countries — extreme concentration.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651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7072" y="2651760"/>
            <a:ext cx="340156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715768"/>
            <a:ext cx="31821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Peru alone = 1.5% of global revenue ($0.03B). Single-country risk must be assessed.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642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* Navy bars = top 3 countries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Latin America — Regional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LATAM contributes 17.5% of global revenue across 23 countries and 20,962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5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274320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005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$0.37B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81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LATAM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960120"/>
            <a:ext cx="274320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005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481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Global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274320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005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20,962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81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LATAM Clients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960120"/>
            <a:ext cx="274320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1005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4813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Countries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93392"/>
            <a:ext cx="676656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223760" y="2057400"/>
            <a:ext cx="73152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2057400"/>
            <a:ext cx="4681728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2121408"/>
            <a:ext cx="44622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Peru leads LATAM with $31M in revenue.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788920"/>
            <a:ext cx="73152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6912" y="2788920"/>
            <a:ext cx="4681728" cy="7315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2852928"/>
            <a:ext cx="44622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Top 2 LATAM countries hold 13% of regional revenue — a balanced regional growth strategy is recommended.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703320"/>
            <a:ext cx="4754880" cy="33832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371246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TOP 5 MARKET SECTIONS IN LATAM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4041648"/>
            <a:ext cx="4754880" cy="35661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  Section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0599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C3F6E"/>
                </a:solidFill>
                <a:latin typeface="Calibri"/>
              </a:rPr>
              <a:t>$66M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398264"/>
            <a:ext cx="47548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4416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  Section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416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C3F6E"/>
                </a:solidFill>
                <a:latin typeface="Calibri"/>
              </a:rPr>
              <a:t>$55M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754880"/>
            <a:ext cx="4754880" cy="35661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4773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  Section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773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C3F6E"/>
                </a:solidFill>
                <a:latin typeface="Calibri"/>
              </a:rPr>
              <a:t>$46M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111496"/>
            <a:ext cx="47548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0" y="5129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  Section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1297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C3F6E"/>
                </a:solidFill>
                <a:latin typeface="Calibri"/>
              </a:rPr>
              <a:t>$39M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468112"/>
            <a:ext cx="4754880" cy="35661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  Section 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486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C3F6E"/>
                </a:solidFill>
                <a:latin typeface="Calibri"/>
              </a:rPr>
              <a:t>$33M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Client Revenue Concentration — Pareto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Original Insight: A small fraction of clients generates the vast majority of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6 /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86800" y="1005840"/>
            <a:ext cx="73152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59952" y="1005840"/>
            <a:ext cx="3218688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069848"/>
            <a:ext cx="29992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Top 1% of clients (264 accounts) generate 12.0% of total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737360"/>
            <a:ext cx="73152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59952" y="1737360"/>
            <a:ext cx="3218688" cy="7315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1801368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Top 10% (2,647 clients) → 48% of revenue. Remaining 23,825 clients → only 52%.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651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59952" y="2651760"/>
            <a:ext cx="321868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715768"/>
            <a:ext cx="29992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Recommendation: implement tiered account management. Protect key accounts; develop retention and growth playbooks for the top tier.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65760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59952" y="3657600"/>
            <a:ext cx="321868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3721608"/>
            <a:ext cx="29992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Long-tail opportunity: 23,825 clients generating only 52% of revenue represent upside if average ticket is grown.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Compliance Risk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Q4 2024 — Exposure to Restricted Jurisdictions (Russia · Cuba · China · Venezuela)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7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14400"/>
            <a:ext cx="11640312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950976"/>
            <a:ext cx="11457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  ALERT: 1,355 clients had transactions with restricted jurisdictions in Q4 2024, representing $9.9M (1.49% of Q4 revenue)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4206240" cy="34747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270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5270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Flagged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270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Revenue (USD)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56231"/>
            <a:ext cx="4206240" cy="40233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China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87451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2233"/>
                </a:solidFill>
                <a:latin typeface="Calibri"/>
              </a:rPr>
              <a:t>740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87451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71C1C"/>
                </a:solidFill>
                <a:latin typeface="Calibri"/>
              </a:rPr>
              <a:t>$5.5M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58568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2768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Venezuela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2768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2233"/>
                </a:solidFill>
                <a:latin typeface="Calibri"/>
              </a:rPr>
              <a:t>687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2768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71C1C"/>
                </a:solidFill>
                <a:latin typeface="Calibri"/>
              </a:rPr>
              <a:t>$4.4M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63040"/>
            <a:ext cx="7498079" cy="46634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74320" y="2798063"/>
            <a:ext cx="4206240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279806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ACTION: Immediate compliance review required for all flagged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Revenue Trend &amp; Seasonality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2024 monthly and quarterly revenue — identifying peaks and troughs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8 /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32104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78240" y="1005840"/>
            <a:ext cx="73152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1392" y="1005840"/>
            <a:ext cx="3127248" cy="5943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069848"/>
            <a:ext cx="29077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Q4 is the strongest quarter: $0.66B.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737360"/>
            <a:ext cx="73152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51392" y="1737360"/>
            <a:ext cx="3127248" cy="7315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801368"/>
            <a:ext cx="2907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Q1 is the weakest: $0.38B — 73% below peak quarter.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651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51392" y="2651760"/>
            <a:ext cx="3127248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715768"/>
            <a:ext cx="29077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3F6E"/>
                </a:solidFill>
                <a:latin typeface="Calibri"/>
              </a:rPr>
              <a:t>Consider front-loading pipeline activity in historically low quarters to smooth annual performance and reduce Q4 pressure.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1887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Key Findings &amp; 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0058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7EE"/>
                </a:solidFill>
                <a:latin typeface="Calibri"/>
              </a:rPr>
              <a:t>Summary of analytical insights and proposed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DD7EE"/>
                </a:solidFill>
                <a:latin typeface="Calibri"/>
              </a:rPr>
              <a:t>Marsh FP&amp;A  |  2024 Financial Review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DD7EE"/>
                </a:solidFill>
                <a:latin typeface="Calibri"/>
              </a:rPr>
              <a:t>9 /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7552"/>
            <a:ext cx="91440" cy="877824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987552"/>
            <a:ext cx="11548872" cy="877824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051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F6E"/>
                </a:solidFill>
                <a:latin typeface="Calibri"/>
              </a:rPr>
              <a:t>MARKET SECTIONS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98448"/>
            <a:ext cx="11365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Revenue differs significantly by section. Section "A" leads in volume (18.0% of global), but revenue per client varies 15.9× across sections. Prioritise investment in high-productivity sections.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91440" cy="877824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11548872" cy="877824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F6E"/>
                </a:solidFill>
                <a:latin typeface="Calibri"/>
              </a:rPr>
              <a:t>GEOGRAPHIC CONCENTRATION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68296"/>
            <a:ext cx="11365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Geography strongly affects revenue. Top 3 countries = 3% of revenue. Diversification into mid-tier countries would reduce single-market dependency and unlock growth potential.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27248"/>
            <a:ext cx="91440" cy="877824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127248"/>
            <a:ext cx="11548872" cy="877824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1912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F6E"/>
                </a:solidFill>
                <a:latin typeface="Calibri"/>
              </a:rPr>
              <a:t>CLIENT PARETO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38144"/>
            <a:ext cx="11365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Top 10% of clients (2,647 accounts) drive 48% of revenue. Implement tiered account management. Long-tail of 23,825 clients represents untapped revenue upside.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97096"/>
            <a:ext cx="91440" cy="877824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197096"/>
            <a:ext cx="11548872" cy="877824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261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F6E"/>
                </a:solidFill>
                <a:latin typeface="Calibri"/>
              </a:rPr>
              <a:t>LATIN AMERICA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07992"/>
            <a:ext cx="11365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LATAM = 17.5% of global revenue. Top 2 LATAM countries hold 13% of regional revenue — growth opportunity in underpenetrated markets. LATAM sections mirror global trends.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266944"/>
            <a:ext cx="91440" cy="87782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266944"/>
            <a:ext cx="11548872" cy="877824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COMPLIANCE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365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  <a:latin typeface="Calibri"/>
              </a:rPr>
              <a:t>1,355 clients had Q4 2024 exposure to restricted jurisdictions ($9.9M = 1.49% of Q4 revenue). Immediate compliance review and enhanced monitoring protocols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902</Words>
  <Application>Microsoft Office PowerPoint</Application>
  <PresentationFormat>Custom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Lezama</cp:lastModifiedBy>
  <cp:revision>2</cp:revision>
  <dcterms:created xsi:type="dcterms:W3CDTF">2013-01-27T09:14:16Z</dcterms:created>
  <dcterms:modified xsi:type="dcterms:W3CDTF">2026-05-03T21:03:42Z</dcterms:modified>
  <cp:category/>
</cp:coreProperties>
</file>